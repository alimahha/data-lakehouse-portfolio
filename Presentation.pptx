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>
      <p:cViewPr varScale="1">
        <p:scale>
          <a:sx n="151" d="100"/>
          <a:sy n="151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w="12700" cap="flat" cmpd="sng">
            <a:solidFill>
              <a:srgbClr val="C89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22A"/>
          </a:solidFill>
          <a:ln w="12700" cap="flat" cmpd="sng">
            <a:solidFill>
              <a:srgbClr val="C89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563A8">
              <a:alpha val="30196"/>
            </a:srgbClr>
          </a:solidFill>
          <a:ln w="12700" cap="flat" cmpd="sng">
            <a:solidFill>
              <a:srgbClr val="2563A8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132320" y="2560320"/>
            <a:ext cx="2286000" cy="2286000"/>
          </a:xfrm>
          <a:prstGeom prst="ellipse">
            <a:avLst/>
          </a:prstGeom>
          <a:solidFill>
            <a:srgbClr val="C8922A">
              <a:alpha val="25098"/>
            </a:srgbClr>
          </a:solidFill>
          <a:ln w="12700" cap="flat" cmpd="sng">
            <a:solidFill>
              <a:srgbClr val="C8922A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9144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Olympic Data Lakehouse Project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057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A Medallion Architecture for Olympic Analytics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651760"/>
            <a:ext cx="5943600" cy="1371600"/>
          </a:xfrm>
          <a:prstGeom prst="roundRect">
            <a:avLst>
              <a:gd name="adj" fmla="val 6667"/>
            </a:avLst>
          </a:prstGeom>
          <a:solidFill>
            <a:srgbClr val="1E3F60"/>
          </a:solidFill>
          <a:ln w="9525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77240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Groupe 4 Members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" y="306324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Ali Mahha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77240" y="33192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Valentin Gabriel Paul TARDY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77240" y="35753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Shivam Bhandari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8640" y="4206240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2563A8">
              <a:alpha val="60000"/>
            </a:srgbClr>
          </a:solidFill>
          <a:ln w="9525" cap="flat" cmpd="sng">
            <a:solidFill>
              <a:srgbClr val="4A90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48640" y="420624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148840" y="4206240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2563A8">
              <a:alpha val="60000"/>
            </a:srgbClr>
          </a:solidFill>
          <a:ln w="9525" cap="flat" cmpd="sng">
            <a:solidFill>
              <a:srgbClr val="4A90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148840" y="420624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DuckDB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749040" y="4206240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2563A8">
              <a:alpha val="60000"/>
            </a:srgbClr>
          </a:solidFill>
          <a:ln w="9525" cap="flat" cmpd="sng">
            <a:solidFill>
              <a:srgbClr val="4A90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749040" y="420624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349240" y="4206240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2563A8">
              <a:alpha val="60000"/>
            </a:srgbClr>
          </a:solidFill>
          <a:ln w="9525" cap="flat" cmpd="sng">
            <a:solidFill>
              <a:srgbClr val="4A90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349240" y="420624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Parquet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949440" y="4206240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2563A8">
              <a:alpha val="60000"/>
            </a:srgbClr>
          </a:solidFill>
          <a:ln w="9525" cap="flat" cmpd="sng">
            <a:solidFill>
              <a:srgbClr val="4A90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949440" y="420624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B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A9BBF"/>
                </a:solidFill>
                <a:latin typeface="Calibri"/>
                <a:ea typeface="Calibri"/>
                <a:cs typeface="Calibri"/>
                <a:sym typeface="Calibri"/>
              </a:rPr>
              <a:t>Data Lakehouse Final Project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Background &amp; Problem Statement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132588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D9E8F5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94360" y="141732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Background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94360" y="173736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The Olympic Games generate vast historical records spanning 125+ years, hundreds of nations, and thousands of athletes. This data exists across multiple heterogeneous sources — making unified analysis difficult without a structured pipeline.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274320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94360" y="2834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94360" y="3218688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Raw data spread across multiple CSV sources with inconsistent formats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deduplication — risk of reprocessing the same data multiple times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structured analytical model for querying Olympic history efficiently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663440" y="274320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892040" y="2834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Project Purpose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92040" y="3218688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Build an end-to-end Data Lakehouse following the Medallion Architecture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Implement idempotent ingestion with MD5-based deduplication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Enable fast SQL analytics via DuckDB on a Star Schema Gold layer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SPECIFICATION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Data Sources &amp; Volume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132588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94360" y="144475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athlete_events.csv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94360" y="1828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Source: Kaggle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21214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286000" y="21214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Unique athlete identifier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94360" y="24231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286000" y="24231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Athlete full name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94360" y="272491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Sex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286000" y="27249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 / 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94360" y="302666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Age / Height / Weight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286000" y="302666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Physical attributes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" y="332841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Team / NOC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286000" y="33284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Country &amp; team code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4360" y="3630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Games / Year / Season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286000" y="36301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Edition metadata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94360" y="39319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Sport / Event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286000" y="39319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Discipline info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4360" y="423367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Medal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286000" y="42336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Gold / Silver / Bronze / NA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94360" y="4572000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45720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271,116 rows  ·  15 columns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663440" y="1325880"/>
            <a:ext cx="4114800" cy="35205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892040" y="144475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wikidata_olympic.csv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892040" y="1828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Source: WikiData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92040" y="21214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athleteLabel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583680" y="21214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Athlete Name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892040" y="24231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countryLabel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583680" y="24231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Athlete Country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892040" y="272491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sportLabel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583680" y="27249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Athlete sport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92040" y="4572000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892040" y="45720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 rows  ·  </a:t>
            </a: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columns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SPECIFICATION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Sample Data — Original Files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65760" y="1325880"/>
            <a:ext cx="84124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48640" y="1417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athlete_events.csv — first 8 rows of raw data (271,116 rows total)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19072"/>
            <a:ext cx="8229600" cy="3063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LAKEHOUSE ARCHITECTURE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Medallion Architecture — Data Pipeline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65760" y="1325880"/>
            <a:ext cx="84124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417320"/>
            <a:ext cx="8138160" cy="3337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BRONZE LAYER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Bronze — Raw Ingestion with Deduplication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36576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94360" y="146304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94360" y="1874520"/>
            <a:ext cx="35204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MD5 checksum detection prevents duplicate ingestion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CSV files uploaded to MinIO Bronze bucket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checksums.csv tracks all processed files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Skips unchanged files — only processes NEW 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434840" y="1325880"/>
            <a:ext cx="4343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6280" y="1417320"/>
            <a:ext cx="41605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/>
          <p:nvPr/>
        </p:nvSpPr>
        <p:spPr>
          <a:xfrm>
            <a:off x="4434840" y="3291840"/>
            <a:ext cx="4343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572000" y="336499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Incremental Skip Logic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657600"/>
            <a:ext cx="402336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BRONZE LAYER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Incremental Ingestion — How MD5 Works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65760" y="13258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1371600" y="1417320"/>
            <a:ext cx="640080" cy="640080"/>
          </a:xfrm>
          <a:prstGeom prst="ellipse">
            <a:avLst/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137160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" y="21488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Compute MD5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02920" y="25146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Hash the file content into a unique fingerprint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200400" y="13258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4206240" y="1417320"/>
            <a:ext cx="640080" cy="640080"/>
          </a:xfrm>
          <a:prstGeom prst="ellipse">
            <a:avLst/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20624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337560" y="21488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Compare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337560" y="25146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 against checksums.csv — record of all past ingestions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035040" y="13258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7040880" y="1417320"/>
            <a:ext cx="640080" cy="640080"/>
          </a:xfrm>
          <a:prstGeom prst="ellipse">
            <a:avLst/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704088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172200" y="21488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Decide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172200" y="25146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[SKIP] if unchanged · [NEW] or [UPDATED] if different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65760" y="338328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48640" y="34564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Terminal output — idempotency in action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3730752"/>
            <a:ext cx="8046720" cy="960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SILVER LAYER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Silver — Cleaning &amp; Delta Lake Integration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365760" y="1325880"/>
            <a:ext cx="44348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444752"/>
            <a:ext cx="416052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/>
          <p:nvPr/>
        </p:nvSpPr>
        <p:spPr>
          <a:xfrm>
            <a:off x="365760" y="3657600"/>
            <a:ext cx="4434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502920" y="3730752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Delta Log snapshot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3977640"/>
            <a:ext cx="411480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4983480" y="132588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5074920" y="14173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athlete_events.csv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074920" y="18745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Remove duplicates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CSV → Parquet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Delta Lake 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995160" y="132588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7086600" y="14173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wikidata_olympic.csv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086600" y="187452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Data standardisation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CSV → Parquet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Delta Lake table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983480" y="34290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5120640" y="3520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mbria"/>
              <a:buNone/>
            </a:pPr>
            <a:r>
              <a:rPr lang="en-US" sz="11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Delta Lake Advantages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120640" y="3858768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ACID transactions  ·  Version control  ·  Data consistency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SILVER LAYER — VERSIONING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Delta Lake — Beyond Plain Parquet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365760" y="132588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548640" y="149047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ACID Transactions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48640" y="189280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write is atomic — no partial updates, no corruption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4800600" y="132588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4983480" y="149047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Time Travel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983480" y="189280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Query any previous version of the data using VERSION AS OF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365760" y="31089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548640" y="327355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Transaction Log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48640" y="367588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_delta_log stores every operation as a JSON entry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800600" y="31089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4983480" y="327355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Overwrite-safe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983480" y="367588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mode='overwrite' replaces data cleanly without side effects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 LAYER — ERD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Gold — Star Schema (ERD)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365760" y="1325880"/>
            <a:ext cx="40690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444752"/>
            <a:ext cx="3840480" cy="32735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/>
          <p:nvPr/>
        </p:nvSpPr>
        <p:spPr>
          <a:xfrm>
            <a:off x="4572000" y="1325880"/>
            <a:ext cx="42062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Star Schema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9160" y="1792224"/>
            <a:ext cx="393192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 LAYER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Why DuckDB?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365760" y="132588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548640" y="149047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In-Process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548640" y="189280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Runs inside Python — no server, no config, no network latency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800600" y="132588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983480" y="149047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Reads Parquet Natively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983480" y="189280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Queries Parquet files directly without loading them into memory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365760" y="31089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548640" y="327355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Columnar Engine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48640" y="367588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Vectorized execution — built for analytical workloads, not row lookups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4800600" y="31089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4983480" y="327355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Full SQL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983480" y="367588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JOINs, aggregations, window functions — everything you need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ANALYTICAL QUERIES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6 SQL Analytics Queries via DuckDB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36576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502920" y="1508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1051560" y="15544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Top 10 countries by total medals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48640" y="2560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DuckDB SQL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320040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3337560" y="1508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333756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3886200" y="15544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Sports with most gold medals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3383280" y="2560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DuckDB SQL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6172200" y="1508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617220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720840" y="15544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Avg age of medal winners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217920" y="2560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DuckDB SQL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36576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502920" y="3200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50292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051560" y="3246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Athletes by gender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48640" y="42519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DuckDB SQL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320040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3337560" y="3200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333756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3886200" y="3246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Participation by Games edition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3383280" y="42519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DuckDB SQL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03504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6172200" y="3200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617220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720840" y="3246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Medals by Olympic season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217920" y="42519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DuckDB SQL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ETL Results — Terminal Output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365760" y="1325880"/>
            <a:ext cx="84124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548640" y="1417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Gold layer ETL terminal output — all tables created successfully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5" title="Capture d’écran 2026-06-23 à 17.53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188" y="1673350"/>
            <a:ext cx="5363625" cy="30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MINIO BUCKETS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MinIO Bucket Contents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365760" y="1298448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502920" y="13716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502920" y="13716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Bronze — raw CSV files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365760" y="2596896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502920" y="267004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502920" y="26700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Silver — clean Parquet files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365760" y="3895344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502920" y="396849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502920" y="39684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 — Star Schema Parquet files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6" title="Capture d’écran 2026-06-23 à 18.04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125" y="1297950"/>
            <a:ext cx="6743757" cy="118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6" title="Capture d’écran 2026-06-23 à 18.05.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3088" y="2596650"/>
            <a:ext cx="6743823" cy="118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6" title="Capture d’écran 2026-06-23 à 18.06.2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8725" y="3840375"/>
            <a:ext cx="6768174" cy="12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QUERY OUTPUTS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Query Results — Q1 to Q3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36576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502920" y="1417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Q1 — Top countries by medals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83080"/>
            <a:ext cx="246888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/>
          <p:nvPr/>
        </p:nvSpPr>
        <p:spPr>
          <a:xfrm>
            <a:off x="320040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3337560" y="1417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Q2 — Sports with most gold medals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1840" y="1783080"/>
            <a:ext cx="246888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7"/>
          <p:cNvSpPr/>
          <p:nvPr/>
        </p:nvSpPr>
        <p:spPr>
          <a:xfrm>
            <a:off x="603504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6172200" y="1417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Q3 — Avg age of medal winners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6480" y="1783080"/>
            <a:ext cx="246888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QUERY OUTPUTS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Query Results — Q4 to Q6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36576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502920" y="1417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Q4 — Athletes by gender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83080"/>
            <a:ext cx="246888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8"/>
          <p:cNvSpPr/>
          <p:nvPr/>
        </p:nvSpPr>
        <p:spPr>
          <a:xfrm>
            <a:off x="320040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3337560" y="1417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Q5 — Participation by Games edition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1840" y="1783080"/>
            <a:ext cx="246888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8"/>
          <p:cNvSpPr/>
          <p:nvPr/>
        </p:nvSpPr>
        <p:spPr>
          <a:xfrm>
            <a:off x="603504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6172200" y="1417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Q6 — Medals by Olympic season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6480" y="1783080"/>
            <a:ext cx="246888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36576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502920" y="14813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Ingestion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502920" y="17556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Python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502920" y="22677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MD5 checksums, MinIO uploads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320040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3337560" y="14813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3337560" y="17556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MinIO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3337560" y="22677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Bronze &amp; Silver buckets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6172200" y="14813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File Format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6172200" y="17556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Parquet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6172200" y="226771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Columnar, efficient storage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365760" y="31089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502920" y="32186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Transaction Layer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02920" y="34930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Delta Lake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02920" y="400507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ACID, versioning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3200400" y="31089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3337560" y="32186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Analytical Engine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3337560" y="34930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DuckDB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3337560" y="400507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 in-process SQL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6035040" y="31089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6172200" y="32186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6172200" y="34930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SQL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6172200" y="400507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custom analytical queries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DISTRIBUTION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1A3A5C"/>
                </a:solidFill>
                <a:latin typeface="Cambria"/>
                <a:ea typeface="Cambria"/>
                <a:cs typeface="Cambria"/>
                <a:sym typeface="Cambria"/>
              </a:rPr>
              <a:t>Work Contribution — Group Members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36576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502920" y="14173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502920" y="14173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Ali Mahha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502920" y="19933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00"/>
              <a:buFont typeface="Calibri"/>
              <a:buNone/>
            </a:pPr>
            <a:r>
              <a:rPr lang="en-US" sz="900" b="1" i="1" u="none" strike="noStrike" cap="non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Bronze Ingestion &amp; Silver Processing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502920" y="2395728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bronze_ingestion.py — MD5 deduplication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utils.py — helper functions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silver_processing.py — cleaning &amp; Delta Lake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Queries: Q1, Q2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320040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3337560" y="14173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3337560" y="14173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Valentin Gabriel Paul TARDY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3337560" y="19933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00"/>
              <a:buFont typeface="Calibri"/>
              <a:buNone/>
            </a:pPr>
            <a:r>
              <a:rPr lang="en-US" sz="900" b="1" i="1" u="none" strike="noStrike" cap="non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Gold Layer &amp; Analytics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3337560" y="2395728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gold_processing.py — Star Schema modeling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analytics_queries.py — SQL queries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DuckDB database setup &amp; architecture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Queries: Q3, Q4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6035040" y="13258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6172200" y="14173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0"/>
          <p:cNvSpPr/>
          <p:nvPr/>
        </p:nvSpPr>
        <p:spPr>
          <a:xfrm>
            <a:off x="6172200" y="14173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Shivam Bhandari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6172200" y="19933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900"/>
              <a:buFont typeface="Calibri"/>
              <a:buNone/>
            </a:pPr>
            <a:r>
              <a:rPr lang="en-US" sz="900" b="1" i="1" u="none" strike="noStrike" cap="non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Warehouse Schema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6172200" y="2395728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Star Schema ERD design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Queries: Q5, Q6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2A"/>
          </a:solidFill>
          <a:ln w="12700" cap="flat" cmpd="sng">
            <a:solidFill>
              <a:srgbClr val="C89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22A"/>
          </a:solidFill>
          <a:ln w="12700" cap="flat" cmpd="sng">
            <a:solidFill>
              <a:srgbClr val="C89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1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AFC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AAFC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457200" y="71323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Complete Data Engineering Workflow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457200" y="155448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1E3F60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685800" y="16459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C8922A"/>
                </a:solidFill>
                <a:latin typeface="Cambria"/>
                <a:ea typeface="Cambria"/>
                <a:cs typeface="Cambria"/>
                <a:sym typeface="Cambria"/>
              </a:rPr>
              <a:t>Delivered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685800" y="2029968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Incremental ingestion with MD5 deduplication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MinIO object storage (Bronze + Silver + Gold buckets)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Parquet + Delta Lake for reliable data transformation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DuckDB Star Schema for fast analytical queries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5669280" y="1554480"/>
            <a:ext cx="3108960" cy="2468880"/>
          </a:xfrm>
          <a:prstGeom prst="roundRect">
            <a:avLst>
              <a:gd name="adj" fmla="val 3704"/>
            </a:avLst>
          </a:prstGeom>
          <a:solidFill>
            <a:srgbClr val="162E44"/>
          </a:solidFill>
          <a:ln w="9525" cap="flat" cmpd="sng">
            <a:solidFill>
              <a:srgbClr val="D5E3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585216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A8C4E0"/>
                </a:solidFill>
                <a:latin typeface="Cambria"/>
                <a:ea typeface="Cambria"/>
                <a:cs typeface="Cambria"/>
                <a:sym typeface="Cambria"/>
              </a:rPr>
              <a:t>Next Steps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5852160" y="2029968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Apache Airflow orchestration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Docker containerisation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Power BI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Cloud deployment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C8922A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</Words>
  <Application>Microsoft Macintosh PowerPoint</Application>
  <PresentationFormat>Affichage à l'écran (16:9)</PresentationFormat>
  <Paragraphs>223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 Mahha</cp:lastModifiedBy>
  <cp:revision>1</cp:revision>
  <dcterms:modified xsi:type="dcterms:W3CDTF">2026-06-25T03:00:54Z</dcterms:modified>
</cp:coreProperties>
</file>